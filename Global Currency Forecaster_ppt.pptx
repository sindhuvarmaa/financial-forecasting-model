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Lato" panose="020F0502020204030203" pitchFamily="34" charset="0"/>
      <p:regular r:id="rId18"/>
      <p:bold r:id="rId19"/>
      <p:italic r:id="rId20"/>
      <p:boldItalic r:id="rId21"/>
    </p:embeddedFont>
    <p:embeddedFont>
      <p:font typeface="Montserrat" panose="00000500000000000000" pitchFamily="2" charset="0"/>
      <p:regular r:id="rId22"/>
      <p:bold r:id="rId23"/>
      <p:italic r:id="rId24"/>
      <p:boldItalic r:id="rId25"/>
    </p:embeddedFont>
    <p:embeddedFont>
      <p:font typeface="Roboto" panose="020000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d0d1744de4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d0d1744de4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d0d1744de4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d0d1744de4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d0d1744de4_0_1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d0d1744de4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d0d1744de4_0_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d0d1744de4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d0d1744de4_0_1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d0d1744de4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d0d1744de4_0_2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d0d1744de4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d0d1744de4_0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d0d1744de4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d0d1744de4_0_2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d0d1744de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d0d1744de4_0_2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d0d1744de4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d0d1744de4_0_2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d0d1744de4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d0d1744de4_0_2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2d0d1744de4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d0d1744de4_0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d0d1744de4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d0d1744de4_0_2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d0d1744de4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d0d1744de4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d0d1744de4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Global Currency Forecaster</a:t>
            </a:r>
            <a:endParaRPr/>
          </a:p>
        </p:txBody>
      </p:sp>
      <p:sp>
        <p:nvSpPr>
          <p:cNvPr id="135" name="Google Shape;135;p13"/>
          <p:cNvSpPr txBox="1">
            <a:spLocks noGrp="1"/>
          </p:cNvSpPr>
          <p:nvPr>
            <p:ph type="subTitle" idx="1"/>
          </p:nvPr>
        </p:nvSpPr>
        <p:spPr>
          <a:xfrm>
            <a:off x="311700" y="2834125"/>
            <a:ext cx="8520600" cy="164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400"/>
              <a:t>Team Members:</a:t>
            </a:r>
            <a:endParaRPr sz="1400"/>
          </a:p>
          <a:p>
            <a:pPr marL="0" lvl="0" indent="0" algn="l" rtl="0">
              <a:spcBef>
                <a:spcPts val="0"/>
              </a:spcBef>
              <a:spcAft>
                <a:spcPts val="0"/>
              </a:spcAft>
              <a:buNone/>
            </a:pPr>
            <a:r>
              <a:rPr lang="en-GB" sz="1400"/>
              <a:t>Jhansi Lakshmi Lakkireddy</a:t>
            </a:r>
            <a:endParaRPr sz="1400"/>
          </a:p>
          <a:p>
            <a:pPr marL="0" lvl="0" indent="0" algn="l" rtl="0">
              <a:spcBef>
                <a:spcPts val="0"/>
              </a:spcBef>
              <a:spcAft>
                <a:spcPts val="0"/>
              </a:spcAft>
              <a:buNone/>
            </a:pPr>
            <a:r>
              <a:rPr lang="en-GB" sz="1400"/>
              <a:t>Sri Sai Sindhu Penmetsa</a:t>
            </a:r>
            <a:endParaRPr sz="1400"/>
          </a:p>
          <a:p>
            <a:pPr marL="0" lvl="0" indent="0" algn="l" rtl="0">
              <a:spcBef>
                <a:spcPts val="0"/>
              </a:spcBef>
              <a:spcAft>
                <a:spcPts val="0"/>
              </a:spcAft>
              <a:buNone/>
            </a:pPr>
            <a:r>
              <a:rPr lang="en-GB" sz="1400"/>
              <a:t>Priyanka Valisetti</a:t>
            </a:r>
            <a:endParaRPr sz="1400"/>
          </a:p>
          <a:p>
            <a:pPr marL="0" lvl="0" indent="0" algn="l" rtl="0">
              <a:spcBef>
                <a:spcPts val="0"/>
              </a:spcBef>
              <a:spcAft>
                <a:spcPts val="0"/>
              </a:spcAft>
              <a:buNone/>
            </a:pPr>
            <a:r>
              <a:rPr lang="en-GB" sz="1400"/>
              <a:t>Naman Tenguria</a:t>
            </a:r>
            <a:endParaRPr sz="1400"/>
          </a:p>
          <a:p>
            <a:pPr marL="0" lvl="0" indent="0" algn="l" rtl="0">
              <a:spcBef>
                <a:spcPts val="0"/>
              </a:spcBef>
              <a:spcAft>
                <a:spcPts val="0"/>
              </a:spcAft>
              <a:buNone/>
            </a:pPr>
            <a:r>
              <a:rPr lang="en-GB" sz="1400"/>
              <a:t>Tarun Venkat Sai Narayanam</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Introduction</a:t>
            </a:r>
            <a:endParaRPr/>
          </a:p>
        </p:txBody>
      </p:sp>
      <p:sp>
        <p:nvSpPr>
          <p:cNvPr id="141" name="Google Shape;141;p14"/>
          <p:cNvSpPr txBox="1">
            <a:spLocks noGrp="1"/>
          </p:cNvSpPr>
          <p:nvPr>
            <p:ph type="body" idx="1"/>
          </p:nvPr>
        </p:nvSpPr>
        <p:spPr>
          <a:xfrm>
            <a:off x="1297500" y="985075"/>
            <a:ext cx="7038900" cy="39402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rgbClr val="ECECEC"/>
              </a:buClr>
              <a:buSzPts val="1200"/>
              <a:buFont typeface="Roboto"/>
              <a:buAutoNum type="arabicPeriod"/>
            </a:pPr>
            <a:r>
              <a:rPr lang="en-GB" sz="1200">
                <a:solidFill>
                  <a:srgbClr val="ECECEC"/>
                </a:solidFill>
                <a:highlight>
                  <a:srgbClr val="212121"/>
                </a:highlight>
                <a:latin typeface="Roboto"/>
                <a:ea typeface="Roboto"/>
                <a:cs typeface="Roboto"/>
                <a:sym typeface="Roboto"/>
              </a:rPr>
              <a:t>Problem Overview</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Goal: Accurately predict USD to INR exchange rates.</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Importance: Essential for international business, investment strategies, and economic policies.</a:t>
            </a:r>
            <a:endParaRPr sz="1200">
              <a:solidFill>
                <a:srgbClr val="ECECEC"/>
              </a:solidFill>
              <a:highlight>
                <a:srgbClr val="212121"/>
              </a:highlight>
              <a:latin typeface="Roboto"/>
              <a:ea typeface="Roboto"/>
              <a:cs typeface="Roboto"/>
              <a:sym typeface="Roboto"/>
            </a:endParaRPr>
          </a:p>
          <a:p>
            <a:pPr marL="457200" lvl="0" indent="-304800" algn="l" rtl="0">
              <a:spcBef>
                <a:spcPts val="0"/>
              </a:spcBef>
              <a:spcAft>
                <a:spcPts val="0"/>
              </a:spcAft>
              <a:buClr>
                <a:srgbClr val="ECECEC"/>
              </a:buClr>
              <a:buSzPts val="1200"/>
              <a:buFont typeface="Roboto"/>
              <a:buAutoNum type="arabicPeriod"/>
            </a:pPr>
            <a:r>
              <a:rPr lang="en-GB" sz="1200">
                <a:solidFill>
                  <a:srgbClr val="ECECEC"/>
                </a:solidFill>
                <a:highlight>
                  <a:srgbClr val="212121"/>
                </a:highlight>
                <a:latin typeface="Roboto"/>
                <a:ea typeface="Roboto"/>
                <a:cs typeface="Roboto"/>
                <a:sym typeface="Roboto"/>
              </a:rPr>
              <a:t>Our Approach</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Techniques: Decision Tree Regressor, Multilayer Perceptron (MLP), and Prophet Model.</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Advantages: Captures complex patterns, improves with new data, and enhances accuracy.</a:t>
            </a:r>
            <a:endParaRPr sz="1200">
              <a:solidFill>
                <a:srgbClr val="ECECEC"/>
              </a:solidFill>
              <a:highlight>
                <a:srgbClr val="212121"/>
              </a:highlight>
              <a:latin typeface="Roboto"/>
              <a:ea typeface="Roboto"/>
              <a:cs typeface="Roboto"/>
              <a:sym typeface="Roboto"/>
            </a:endParaRPr>
          </a:p>
          <a:p>
            <a:pPr marL="457200" lvl="0" indent="-304800" algn="l" rtl="0">
              <a:spcBef>
                <a:spcPts val="0"/>
              </a:spcBef>
              <a:spcAft>
                <a:spcPts val="0"/>
              </a:spcAft>
              <a:buClr>
                <a:srgbClr val="ECECEC"/>
              </a:buClr>
              <a:buSzPts val="1200"/>
              <a:buFont typeface="Roboto"/>
              <a:buAutoNum type="arabicPeriod"/>
            </a:pPr>
            <a:r>
              <a:rPr lang="en-GB" sz="1200">
                <a:solidFill>
                  <a:srgbClr val="ECECEC"/>
                </a:solidFill>
                <a:highlight>
                  <a:srgbClr val="212121"/>
                </a:highlight>
                <a:latin typeface="Roboto"/>
                <a:ea typeface="Roboto"/>
                <a:cs typeface="Roboto"/>
                <a:sym typeface="Roboto"/>
              </a:rPr>
              <a:t>Benefits</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Economic Strategy: Better informed decisions for stability and growth.</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Financial Planning: Increased profitability and reduced risk.</a:t>
            </a:r>
            <a:endParaRPr sz="1200">
              <a:solidFill>
                <a:srgbClr val="ECECEC"/>
              </a:solidFill>
              <a:highlight>
                <a:srgbClr val="212121"/>
              </a:highlight>
              <a:latin typeface="Roboto"/>
              <a:ea typeface="Roboto"/>
              <a:cs typeface="Roboto"/>
              <a:sym typeface="Roboto"/>
            </a:endParaRPr>
          </a:p>
          <a:p>
            <a:pPr marL="457200" lvl="0" indent="-304800" algn="l" rtl="0">
              <a:spcBef>
                <a:spcPts val="0"/>
              </a:spcBef>
              <a:spcAft>
                <a:spcPts val="0"/>
              </a:spcAft>
              <a:buClr>
                <a:srgbClr val="ECECEC"/>
              </a:buClr>
              <a:buSzPts val="1200"/>
              <a:buFont typeface="Roboto"/>
              <a:buAutoNum type="arabicPeriod"/>
            </a:pPr>
            <a:r>
              <a:rPr lang="en-GB" sz="1200">
                <a:solidFill>
                  <a:srgbClr val="ECECEC"/>
                </a:solidFill>
                <a:highlight>
                  <a:srgbClr val="212121"/>
                </a:highlight>
                <a:latin typeface="Roboto"/>
                <a:ea typeface="Roboto"/>
                <a:cs typeface="Roboto"/>
                <a:sym typeface="Roboto"/>
              </a:rPr>
              <a:t>Impact</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Transforms currency predictions into a reliable, data-driven practice.</a:t>
            </a:r>
            <a:endParaRPr sz="1200">
              <a:solidFill>
                <a:srgbClr val="ECECEC"/>
              </a:solidFill>
              <a:highlight>
                <a:srgbClr val="212121"/>
              </a:highlight>
              <a:latin typeface="Roboto"/>
              <a:ea typeface="Roboto"/>
              <a:cs typeface="Roboto"/>
              <a:sym typeface="Roboto"/>
            </a:endParaRPr>
          </a:p>
          <a:p>
            <a:pPr marL="0" lvl="0" indent="0" algn="l" rtl="0">
              <a:spcBef>
                <a:spcPts val="1500"/>
              </a:spcBef>
              <a:spcAft>
                <a:spcPts val="0"/>
              </a:spcAft>
              <a:buNone/>
            </a:pPr>
            <a:r>
              <a:rPr lang="en-GB" sz="1200">
                <a:solidFill>
                  <a:srgbClr val="ECECEC"/>
                </a:solidFill>
                <a:highlight>
                  <a:srgbClr val="212121"/>
                </a:highlight>
                <a:latin typeface="Roboto"/>
                <a:ea typeface="Roboto"/>
                <a:cs typeface="Roboto"/>
                <a:sym typeface="Roboto"/>
              </a:rPr>
              <a:t>Visuals:</a:t>
            </a:r>
            <a:endParaRPr sz="1200">
              <a:solidFill>
                <a:srgbClr val="ECECEC"/>
              </a:solidFill>
              <a:highlight>
                <a:srgbClr val="212121"/>
              </a:highlight>
              <a:latin typeface="Roboto"/>
              <a:ea typeface="Roboto"/>
              <a:cs typeface="Roboto"/>
              <a:sym typeface="Roboto"/>
            </a:endParaRPr>
          </a:p>
          <a:p>
            <a:pPr marL="457200" lvl="0" indent="-304800" algn="l" rtl="0">
              <a:spcBef>
                <a:spcPts val="150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Graphs of model predictions vs. actual rates.</a:t>
            </a:r>
            <a:endParaRPr sz="1200">
              <a:solidFill>
                <a:srgbClr val="ECECEC"/>
              </a:solidFill>
              <a:highlight>
                <a:srgbClr val="212121"/>
              </a:highlight>
              <a:latin typeface="Roboto"/>
              <a:ea typeface="Roboto"/>
              <a:cs typeface="Roboto"/>
              <a:sym typeface="Roboto"/>
            </a:endParaRPr>
          </a:p>
          <a:p>
            <a:pPr marL="457200" lvl="0"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Icons for technology, global trade, and analytics.</a:t>
            </a:r>
            <a:endParaRPr sz="1200">
              <a:solidFill>
                <a:srgbClr val="ECECEC"/>
              </a:solidFill>
              <a:highlight>
                <a:srgbClr val="212121"/>
              </a:highlight>
              <a:latin typeface="Roboto"/>
              <a:ea typeface="Roboto"/>
              <a:cs typeface="Roboto"/>
              <a:sym typeface="Roboto"/>
            </a:endParaRPr>
          </a:p>
          <a:p>
            <a:pPr marL="0" lvl="0" indent="0" algn="l" rtl="0">
              <a:spcBef>
                <a:spcPts val="1200"/>
              </a:spcBef>
              <a:spcAft>
                <a:spcPts val="1200"/>
              </a:spcAft>
              <a:buNone/>
            </a:pP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5"/>
          <p:cNvSpPr txBox="1">
            <a:spLocks noGrp="1"/>
          </p:cNvSpPr>
          <p:nvPr>
            <p:ph type="title"/>
          </p:nvPr>
        </p:nvSpPr>
        <p:spPr>
          <a:xfrm>
            <a:off x="1297500" y="393750"/>
            <a:ext cx="7038900" cy="67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Data Collection</a:t>
            </a:r>
            <a:endParaRPr/>
          </a:p>
        </p:txBody>
      </p:sp>
      <p:sp>
        <p:nvSpPr>
          <p:cNvPr id="147" name="Google Shape;147;p15"/>
          <p:cNvSpPr txBox="1">
            <a:spLocks noGrp="1"/>
          </p:cNvSpPr>
          <p:nvPr>
            <p:ph type="body" idx="1"/>
          </p:nvPr>
        </p:nvSpPr>
        <p:spPr>
          <a:xfrm>
            <a:off x="1297500" y="1070850"/>
            <a:ext cx="7038900" cy="3715200"/>
          </a:xfrm>
          <a:prstGeom prst="rect">
            <a:avLst/>
          </a:prstGeom>
        </p:spPr>
        <p:txBody>
          <a:bodyPr spcFirstLastPara="1" wrap="square" lIns="91425" tIns="91425" rIns="91425" bIns="91425" anchor="t" anchorCtr="0">
            <a:normAutofit lnSpcReduction="10000"/>
          </a:bodyPr>
          <a:lstStyle/>
          <a:p>
            <a:pPr marL="457200" lvl="0" indent="-304800" algn="l" rtl="0">
              <a:spcBef>
                <a:spcPts val="0"/>
              </a:spcBef>
              <a:spcAft>
                <a:spcPts val="0"/>
              </a:spcAft>
              <a:buClr>
                <a:srgbClr val="ECECEC"/>
              </a:buClr>
              <a:buSzPts val="1200"/>
              <a:buFont typeface="Roboto"/>
              <a:buAutoNum type="arabicPeriod"/>
            </a:pPr>
            <a:r>
              <a:rPr lang="en-GB" sz="1200">
                <a:solidFill>
                  <a:srgbClr val="ECECEC"/>
                </a:solidFill>
                <a:highlight>
                  <a:srgbClr val="212121"/>
                </a:highlight>
                <a:latin typeface="Roboto"/>
                <a:ea typeface="Roboto"/>
                <a:cs typeface="Roboto"/>
                <a:sym typeface="Roboto"/>
              </a:rPr>
              <a:t>Data Source</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Provider: TraderMade API</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Coverage Period: May 29, 2023, to April 29, 2024</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Currency Pair: USD to INR</a:t>
            </a:r>
            <a:endParaRPr sz="1200">
              <a:solidFill>
                <a:srgbClr val="ECECEC"/>
              </a:solidFill>
              <a:highlight>
                <a:srgbClr val="212121"/>
              </a:highlight>
              <a:latin typeface="Roboto"/>
              <a:ea typeface="Roboto"/>
              <a:cs typeface="Roboto"/>
              <a:sym typeface="Roboto"/>
            </a:endParaRPr>
          </a:p>
          <a:p>
            <a:pPr marL="457200" lvl="0" indent="-304800" algn="l" rtl="0">
              <a:spcBef>
                <a:spcPts val="0"/>
              </a:spcBef>
              <a:spcAft>
                <a:spcPts val="0"/>
              </a:spcAft>
              <a:buClr>
                <a:srgbClr val="ECECEC"/>
              </a:buClr>
              <a:buSzPts val="1200"/>
              <a:buFont typeface="Roboto"/>
              <a:buAutoNum type="arabicPeriod"/>
            </a:pPr>
            <a:r>
              <a:rPr lang="en-GB" sz="1200">
                <a:solidFill>
                  <a:srgbClr val="ECECEC"/>
                </a:solidFill>
                <a:highlight>
                  <a:srgbClr val="212121"/>
                </a:highlight>
                <a:latin typeface="Roboto"/>
                <a:ea typeface="Roboto"/>
                <a:cs typeface="Roboto"/>
                <a:sym typeface="Roboto"/>
              </a:rPr>
              <a:t>Key Features of the Dataset</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Date: Tracks daily exchange rate data for temporal analysis.</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Open Rate: Opening rate of USD to INR each day.</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High Rate: Peak exchange rate within each trading day.</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Low Rate: Lowest exchange rate observed each day.</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Close Rate: Closing rate of USD to INR each day.</a:t>
            </a:r>
            <a:endParaRPr sz="1200">
              <a:solidFill>
                <a:srgbClr val="ECECEC"/>
              </a:solidFill>
              <a:highlight>
                <a:srgbClr val="212121"/>
              </a:highlight>
              <a:latin typeface="Roboto"/>
              <a:ea typeface="Roboto"/>
              <a:cs typeface="Roboto"/>
              <a:sym typeface="Roboto"/>
            </a:endParaRPr>
          </a:p>
          <a:p>
            <a:pPr marL="457200" lvl="0" indent="-304800" algn="l" rtl="0">
              <a:spcBef>
                <a:spcPts val="0"/>
              </a:spcBef>
              <a:spcAft>
                <a:spcPts val="0"/>
              </a:spcAft>
              <a:buClr>
                <a:srgbClr val="ECECEC"/>
              </a:buClr>
              <a:buSzPts val="1200"/>
              <a:buFont typeface="Roboto"/>
              <a:buAutoNum type="arabicPeriod"/>
            </a:pPr>
            <a:r>
              <a:rPr lang="en-GB" sz="1200">
                <a:solidFill>
                  <a:srgbClr val="ECECEC"/>
                </a:solidFill>
                <a:highlight>
                  <a:srgbClr val="212121"/>
                </a:highlight>
                <a:latin typeface="Roboto"/>
                <a:ea typeface="Roboto"/>
                <a:cs typeface="Roboto"/>
                <a:sym typeface="Roboto"/>
              </a:rPr>
              <a:t>Purpose of Data Collection</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To understand historical exchange rate fluctuations.</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Identify patterns and trends influencing future rates.</a:t>
            </a:r>
            <a:endParaRPr sz="1200">
              <a:solidFill>
                <a:srgbClr val="ECECEC"/>
              </a:solidFill>
              <a:highlight>
                <a:srgbClr val="212121"/>
              </a:highlight>
              <a:latin typeface="Roboto"/>
              <a:ea typeface="Roboto"/>
              <a:cs typeface="Roboto"/>
              <a:sym typeface="Roboto"/>
            </a:endParaRPr>
          </a:p>
          <a:p>
            <a:pPr marL="457200" lvl="0" indent="-304800" algn="l" rtl="0">
              <a:spcBef>
                <a:spcPts val="0"/>
              </a:spcBef>
              <a:spcAft>
                <a:spcPts val="0"/>
              </a:spcAft>
              <a:buClr>
                <a:srgbClr val="ECECEC"/>
              </a:buClr>
              <a:buSzPts val="1200"/>
              <a:buFont typeface="Roboto"/>
              <a:buAutoNum type="arabicPeriod"/>
            </a:pPr>
            <a:r>
              <a:rPr lang="en-GB" sz="1200">
                <a:solidFill>
                  <a:srgbClr val="ECECEC"/>
                </a:solidFill>
                <a:highlight>
                  <a:srgbClr val="212121"/>
                </a:highlight>
                <a:latin typeface="Roboto"/>
                <a:ea typeface="Roboto"/>
                <a:cs typeface="Roboto"/>
                <a:sym typeface="Roboto"/>
              </a:rPr>
              <a:t>Importance for Predictive Modeling</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Provides a robust foundation for developing accurate predictive models.</a:t>
            </a:r>
            <a:endParaRPr sz="1200">
              <a:solidFill>
                <a:srgbClr val="ECECEC"/>
              </a:solidFill>
              <a:highlight>
                <a:srgbClr val="212121"/>
              </a:highlight>
              <a:latin typeface="Roboto"/>
              <a:ea typeface="Roboto"/>
              <a:cs typeface="Roboto"/>
              <a:sym typeface="Roboto"/>
            </a:endParaRPr>
          </a:p>
          <a:p>
            <a:pPr marL="914400" lvl="1" indent="-304800" algn="l" rtl="0">
              <a:spcBef>
                <a:spcPts val="0"/>
              </a:spcBef>
              <a:spcAft>
                <a:spcPts val="0"/>
              </a:spcAft>
              <a:buClr>
                <a:srgbClr val="ECECEC"/>
              </a:buClr>
              <a:buSzPts val="1200"/>
              <a:buFont typeface="Roboto"/>
              <a:buChar char="●"/>
            </a:pPr>
            <a:r>
              <a:rPr lang="en-GB" sz="1200">
                <a:solidFill>
                  <a:srgbClr val="ECECEC"/>
                </a:solidFill>
                <a:highlight>
                  <a:srgbClr val="212121"/>
                </a:highlight>
                <a:latin typeface="Roboto"/>
                <a:ea typeface="Roboto"/>
                <a:cs typeface="Roboto"/>
                <a:sym typeface="Roboto"/>
              </a:rPr>
              <a:t>Enhances model reliability by including detailed daily exchange movements.</a:t>
            </a:r>
            <a:endParaRPr sz="1200">
              <a:solidFill>
                <a:srgbClr val="ECECEC"/>
              </a:solidFill>
              <a:highlight>
                <a:srgbClr val="212121"/>
              </a:highlight>
              <a:latin typeface="Roboto"/>
              <a:ea typeface="Roboto"/>
              <a:cs typeface="Roboto"/>
              <a:sym typeface="Roboto"/>
            </a:endParaRPr>
          </a:p>
          <a:p>
            <a:pPr marL="0" lvl="0" indent="0" algn="l" rtl="0">
              <a:spcBef>
                <a:spcPts val="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Data Exploration</a:t>
            </a:r>
            <a:endParaRPr/>
          </a:p>
        </p:txBody>
      </p:sp>
      <p:sp>
        <p:nvSpPr>
          <p:cNvPr id="153" name="Google Shape;153;p16"/>
          <p:cNvSpPr txBox="1">
            <a:spLocks noGrp="1"/>
          </p:cNvSpPr>
          <p:nvPr>
            <p:ph type="body" idx="1"/>
          </p:nvPr>
        </p:nvSpPr>
        <p:spPr>
          <a:xfrm>
            <a:off x="1297500" y="1307850"/>
            <a:ext cx="7038900" cy="3171000"/>
          </a:xfrm>
          <a:prstGeom prst="rect">
            <a:avLst/>
          </a:prstGeom>
        </p:spPr>
        <p:txBody>
          <a:bodyPr spcFirstLastPara="1" wrap="square" lIns="91425" tIns="91425" rIns="91425" bIns="91425" anchor="t" anchorCtr="0">
            <a:normAutofit fontScale="92500" lnSpcReduction="10000"/>
          </a:bodyPr>
          <a:lstStyle/>
          <a:p>
            <a:pPr marL="457200" lvl="0" indent="-299085" algn="l" rtl="0">
              <a:spcBef>
                <a:spcPts val="0"/>
              </a:spcBef>
              <a:spcAft>
                <a:spcPts val="0"/>
              </a:spcAft>
              <a:buClr>
                <a:srgbClr val="ECECEC"/>
              </a:buClr>
              <a:buSzPct val="100000"/>
              <a:buFont typeface="Roboto"/>
              <a:buAutoNum type="arabicPeriod"/>
            </a:pPr>
            <a:r>
              <a:rPr lang="en-GB" sz="1200">
                <a:solidFill>
                  <a:srgbClr val="ECECEC"/>
                </a:solidFill>
                <a:highlight>
                  <a:srgbClr val="212121"/>
                </a:highlight>
                <a:latin typeface="Roboto"/>
                <a:ea typeface="Roboto"/>
                <a:cs typeface="Roboto"/>
                <a:sym typeface="Roboto"/>
              </a:rPr>
              <a:t>Objective of EDA</a:t>
            </a:r>
            <a:endParaRPr sz="1200">
              <a:solidFill>
                <a:srgbClr val="ECECEC"/>
              </a:solidFill>
              <a:highlight>
                <a:srgbClr val="212121"/>
              </a:highlight>
              <a:latin typeface="Roboto"/>
              <a:ea typeface="Roboto"/>
              <a:cs typeface="Roboto"/>
              <a:sym typeface="Roboto"/>
            </a:endParaRPr>
          </a:p>
          <a:p>
            <a:pPr marL="914400" lvl="1" indent="-299085" algn="l" rtl="0">
              <a:spcBef>
                <a:spcPts val="0"/>
              </a:spcBef>
              <a:spcAft>
                <a:spcPts val="0"/>
              </a:spcAft>
              <a:buClr>
                <a:srgbClr val="ECECEC"/>
              </a:buClr>
              <a:buSzPct val="100000"/>
              <a:buFont typeface="Roboto"/>
              <a:buChar char="●"/>
            </a:pPr>
            <a:r>
              <a:rPr lang="en-GB" sz="1200">
                <a:solidFill>
                  <a:srgbClr val="ECECEC"/>
                </a:solidFill>
                <a:highlight>
                  <a:srgbClr val="212121"/>
                </a:highlight>
                <a:latin typeface="Roboto"/>
                <a:ea typeface="Roboto"/>
                <a:cs typeface="Roboto"/>
                <a:sym typeface="Roboto"/>
              </a:rPr>
              <a:t>To uncover insights into the dynamics of USD to INR exchange rates through visual analysis.</a:t>
            </a:r>
            <a:endParaRPr sz="1200">
              <a:solidFill>
                <a:srgbClr val="ECECEC"/>
              </a:solidFill>
              <a:highlight>
                <a:srgbClr val="212121"/>
              </a:highlight>
              <a:latin typeface="Roboto"/>
              <a:ea typeface="Roboto"/>
              <a:cs typeface="Roboto"/>
              <a:sym typeface="Roboto"/>
            </a:endParaRPr>
          </a:p>
          <a:p>
            <a:pPr marL="457200" lvl="0" indent="-299085" algn="l" rtl="0">
              <a:spcBef>
                <a:spcPts val="0"/>
              </a:spcBef>
              <a:spcAft>
                <a:spcPts val="0"/>
              </a:spcAft>
              <a:buClr>
                <a:srgbClr val="ECECEC"/>
              </a:buClr>
              <a:buSzPct val="100000"/>
              <a:buFont typeface="Roboto"/>
              <a:buAutoNum type="arabicPeriod"/>
            </a:pPr>
            <a:r>
              <a:rPr lang="en-GB" sz="1200">
                <a:solidFill>
                  <a:srgbClr val="ECECEC"/>
                </a:solidFill>
                <a:highlight>
                  <a:srgbClr val="212121"/>
                </a:highlight>
                <a:latin typeface="Roboto"/>
                <a:ea typeface="Roboto"/>
                <a:cs typeface="Roboto"/>
                <a:sym typeface="Roboto"/>
              </a:rPr>
              <a:t>Visualization Techniques Used</a:t>
            </a:r>
            <a:endParaRPr sz="1200">
              <a:solidFill>
                <a:srgbClr val="ECECEC"/>
              </a:solidFill>
              <a:highlight>
                <a:srgbClr val="212121"/>
              </a:highlight>
              <a:latin typeface="Roboto"/>
              <a:ea typeface="Roboto"/>
              <a:cs typeface="Roboto"/>
              <a:sym typeface="Roboto"/>
            </a:endParaRPr>
          </a:p>
          <a:p>
            <a:pPr marL="914400" lvl="1" indent="-299085" algn="l" rtl="0">
              <a:spcBef>
                <a:spcPts val="0"/>
              </a:spcBef>
              <a:spcAft>
                <a:spcPts val="0"/>
              </a:spcAft>
              <a:buClr>
                <a:srgbClr val="ECECEC"/>
              </a:buClr>
              <a:buSzPct val="100000"/>
              <a:buFont typeface="Roboto"/>
              <a:buChar char="●"/>
            </a:pPr>
            <a:r>
              <a:rPr lang="en-GB" sz="1200">
                <a:solidFill>
                  <a:srgbClr val="ECECEC"/>
                </a:solidFill>
                <a:highlight>
                  <a:srgbClr val="212121"/>
                </a:highlight>
                <a:latin typeface="Roboto"/>
                <a:ea typeface="Roboto"/>
                <a:cs typeface="Roboto"/>
                <a:sym typeface="Roboto"/>
              </a:rPr>
              <a:t>Candlestick Charts: Visualize daily fluctuations, highlight trends, and potential reversal points.</a:t>
            </a:r>
            <a:endParaRPr sz="1200">
              <a:solidFill>
                <a:srgbClr val="ECECEC"/>
              </a:solidFill>
              <a:highlight>
                <a:srgbClr val="212121"/>
              </a:highlight>
              <a:latin typeface="Roboto"/>
              <a:ea typeface="Roboto"/>
              <a:cs typeface="Roboto"/>
              <a:sym typeface="Roboto"/>
            </a:endParaRPr>
          </a:p>
          <a:p>
            <a:pPr marL="914400" lvl="1" indent="-299085" algn="l" rtl="0">
              <a:spcBef>
                <a:spcPts val="0"/>
              </a:spcBef>
              <a:spcAft>
                <a:spcPts val="0"/>
              </a:spcAft>
              <a:buClr>
                <a:srgbClr val="ECECEC"/>
              </a:buClr>
              <a:buSzPct val="100000"/>
              <a:buFont typeface="Roboto"/>
              <a:buChar char="●"/>
            </a:pPr>
            <a:r>
              <a:rPr lang="en-GB" sz="1200">
                <a:solidFill>
                  <a:srgbClr val="ECECEC"/>
                </a:solidFill>
                <a:highlight>
                  <a:srgbClr val="212121"/>
                </a:highlight>
                <a:latin typeface="Roboto"/>
                <a:ea typeface="Roboto"/>
                <a:cs typeface="Roboto"/>
                <a:sym typeface="Roboto"/>
              </a:rPr>
              <a:t>Line Plots: Show overall trend and significant fluctuations over time using closing rates.</a:t>
            </a:r>
            <a:endParaRPr sz="1200">
              <a:solidFill>
                <a:srgbClr val="ECECEC"/>
              </a:solidFill>
              <a:highlight>
                <a:srgbClr val="212121"/>
              </a:highlight>
              <a:latin typeface="Roboto"/>
              <a:ea typeface="Roboto"/>
              <a:cs typeface="Roboto"/>
              <a:sym typeface="Roboto"/>
            </a:endParaRPr>
          </a:p>
          <a:p>
            <a:pPr marL="914400" lvl="1" indent="-299085" algn="l" rtl="0">
              <a:spcBef>
                <a:spcPts val="0"/>
              </a:spcBef>
              <a:spcAft>
                <a:spcPts val="0"/>
              </a:spcAft>
              <a:buClr>
                <a:srgbClr val="ECECEC"/>
              </a:buClr>
              <a:buSzPct val="100000"/>
              <a:buFont typeface="Roboto"/>
              <a:buChar char="●"/>
            </a:pPr>
            <a:r>
              <a:rPr lang="en-GB" sz="1200">
                <a:solidFill>
                  <a:srgbClr val="ECECEC"/>
                </a:solidFill>
                <a:highlight>
                  <a:srgbClr val="212121"/>
                </a:highlight>
                <a:latin typeface="Roboto"/>
                <a:ea typeface="Roboto"/>
                <a:cs typeface="Roboto"/>
                <a:sym typeface="Roboto"/>
              </a:rPr>
              <a:t>Correlation Matrices: Analyze relationships between open, high, low, and close rates to identify dependencies.</a:t>
            </a:r>
            <a:endParaRPr sz="1200">
              <a:solidFill>
                <a:srgbClr val="ECECEC"/>
              </a:solidFill>
              <a:highlight>
                <a:srgbClr val="212121"/>
              </a:highlight>
              <a:latin typeface="Roboto"/>
              <a:ea typeface="Roboto"/>
              <a:cs typeface="Roboto"/>
              <a:sym typeface="Roboto"/>
            </a:endParaRPr>
          </a:p>
          <a:p>
            <a:pPr marL="457200" lvl="0" indent="-299085" algn="l" rtl="0">
              <a:spcBef>
                <a:spcPts val="0"/>
              </a:spcBef>
              <a:spcAft>
                <a:spcPts val="0"/>
              </a:spcAft>
              <a:buClr>
                <a:srgbClr val="ECECEC"/>
              </a:buClr>
              <a:buSzPct val="100000"/>
              <a:buFont typeface="Roboto"/>
              <a:buAutoNum type="arabicPeriod"/>
            </a:pPr>
            <a:r>
              <a:rPr lang="en-GB" sz="1200">
                <a:solidFill>
                  <a:srgbClr val="ECECEC"/>
                </a:solidFill>
                <a:highlight>
                  <a:srgbClr val="212121"/>
                </a:highlight>
                <a:latin typeface="Roboto"/>
                <a:ea typeface="Roboto"/>
                <a:cs typeface="Roboto"/>
                <a:sym typeface="Roboto"/>
              </a:rPr>
              <a:t>Key Findings from EDA</a:t>
            </a:r>
            <a:endParaRPr sz="1200">
              <a:solidFill>
                <a:srgbClr val="ECECEC"/>
              </a:solidFill>
              <a:highlight>
                <a:srgbClr val="212121"/>
              </a:highlight>
              <a:latin typeface="Roboto"/>
              <a:ea typeface="Roboto"/>
              <a:cs typeface="Roboto"/>
              <a:sym typeface="Roboto"/>
            </a:endParaRPr>
          </a:p>
          <a:p>
            <a:pPr marL="914400" lvl="1" indent="-299085" algn="l" rtl="0">
              <a:spcBef>
                <a:spcPts val="0"/>
              </a:spcBef>
              <a:spcAft>
                <a:spcPts val="0"/>
              </a:spcAft>
              <a:buClr>
                <a:srgbClr val="ECECEC"/>
              </a:buClr>
              <a:buSzPct val="100000"/>
              <a:buFont typeface="Roboto"/>
              <a:buChar char="●"/>
            </a:pPr>
            <a:r>
              <a:rPr lang="en-GB" sz="1200">
                <a:solidFill>
                  <a:srgbClr val="ECECEC"/>
                </a:solidFill>
                <a:highlight>
                  <a:srgbClr val="212121"/>
                </a:highlight>
                <a:latin typeface="Roboto"/>
                <a:ea typeface="Roboto"/>
                <a:cs typeface="Roboto"/>
                <a:sym typeface="Roboto"/>
              </a:rPr>
              <a:t>Identification of clear trends and seasonal patterns.</a:t>
            </a:r>
            <a:endParaRPr sz="1200">
              <a:solidFill>
                <a:srgbClr val="ECECEC"/>
              </a:solidFill>
              <a:highlight>
                <a:srgbClr val="212121"/>
              </a:highlight>
              <a:latin typeface="Roboto"/>
              <a:ea typeface="Roboto"/>
              <a:cs typeface="Roboto"/>
              <a:sym typeface="Roboto"/>
            </a:endParaRPr>
          </a:p>
          <a:p>
            <a:pPr marL="914400" lvl="1" indent="-299085" algn="l" rtl="0">
              <a:spcBef>
                <a:spcPts val="0"/>
              </a:spcBef>
              <a:spcAft>
                <a:spcPts val="0"/>
              </a:spcAft>
              <a:buClr>
                <a:srgbClr val="ECECEC"/>
              </a:buClr>
              <a:buSzPct val="100000"/>
              <a:buFont typeface="Roboto"/>
              <a:buChar char="●"/>
            </a:pPr>
            <a:r>
              <a:rPr lang="en-GB" sz="1200">
                <a:solidFill>
                  <a:srgbClr val="ECECEC"/>
                </a:solidFill>
                <a:highlight>
                  <a:srgbClr val="212121"/>
                </a:highlight>
                <a:latin typeface="Roboto"/>
                <a:ea typeface="Roboto"/>
                <a:cs typeface="Roboto"/>
                <a:sym typeface="Roboto"/>
              </a:rPr>
              <a:t>Insights into daily price volatility and trading patterns.</a:t>
            </a:r>
            <a:endParaRPr sz="1200">
              <a:solidFill>
                <a:srgbClr val="ECECEC"/>
              </a:solidFill>
              <a:highlight>
                <a:srgbClr val="212121"/>
              </a:highlight>
              <a:latin typeface="Roboto"/>
              <a:ea typeface="Roboto"/>
              <a:cs typeface="Roboto"/>
              <a:sym typeface="Roboto"/>
            </a:endParaRPr>
          </a:p>
          <a:p>
            <a:pPr marL="914400" lvl="1" indent="-299085" algn="l" rtl="0">
              <a:spcBef>
                <a:spcPts val="0"/>
              </a:spcBef>
              <a:spcAft>
                <a:spcPts val="0"/>
              </a:spcAft>
              <a:buClr>
                <a:srgbClr val="ECECEC"/>
              </a:buClr>
              <a:buSzPct val="100000"/>
              <a:buFont typeface="Roboto"/>
              <a:buChar char="●"/>
            </a:pPr>
            <a:r>
              <a:rPr lang="en-GB" sz="1200">
                <a:solidFill>
                  <a:srgbClr val="ECECEC"/>
                </a:solidFill>
                <a:highlight>
                  <a:srgbClr val="212121"/>
                </a:highlight>
                <a:latin typeface="Roboto"/>
                <a:ea typeface="Roboto"/>
                <a:cs typeface="Roboto"/>
                <a:sym typeface="Roboto"/>
              </a:rPr>
              <a:t>Strong correlations between different aspects of exchange rate data, guiding predictive modeling.</a:t>
            </a:r>
            <a:endParaRPr sz="1200">
              <a:solidFill>
                <a:srgbClr val="ECECEC"/>
              </a:solidFill>
              <a:highlight>
                <a:srgbClr val="212121"/>
              </a:highlight>
              <a:latin typeface="Roboto"/>
              <a:ea typeface="Roboto"/>
              <a:cs typeface="Roboto"/>
              <a:sym typeface="Roboto"/>
            </a:endParaRPr>
          </a:p>
          <a:p>
            <a:pPr marL="457200" lvl="0" indent="-299085" algn="l" rtl="0">
              <a:spcBef>
                <a:spcPts val="0"/>
              </a:spcBef>
              <a:spcAft>
                <a:spcPts val="0"/>
              </a:spcAft>
              <a:buClr>
                <a:srgbClr val="ECECEC"/>
              </a:buClr>
              <a:buSzPct val="100000"/>
              <a:buFont typeface="Roboto"/>
              <a:buAutoNum type="arabicPeriod"/>
            </a:pPr>
            <a:r>
              <a:rPr lang="en-GB" sz="1200">
                <a:solidFill>
                  <a:srgbClr val="ECECEC"/>
                </a:solidFill>
                <a:highlight>
                  <a:srgbClr val="212121"/>
                </a:highlight>
                <a:latin typeface="Roboto"/>
                <a:ea typeface="Roboto"/>
                <a:cs typeface="Roboto"/>
                <a:sym typeface="Roboto"/>
              </a:rPr>
              <a:t>Impact on Model Development</a:t>
            </a:r>
            <a:endParaRPr sz="1200">
              <a:solidFill>
                <a:srgbClr val="ECECEC"/>
              </a:solidFill>
              <a:highlight>
                <a:srgbClr val="212121"/>
              </a:highlight>
              <a:latin typeface="Roboto"/>
              <a:ea typeface="Roboto"/>
              <a:cs typeface="Roboto"/>
              <a:sym typeface="Roboto"/>
            </a:endParaRPr>
          </a:p>
          <a:p>
            <a:pPr marL="914400" lvl="1" indent="-299085" algn="l" rtl="0">
              <a:spcBef>
                <a:spcPts val="0"/>
              </a:spcBef>
              <a:spcAft>
                <a:spcPts val="0"/>
              </a:spcAft>
              <a:buClr>
                <a:srgbClr val="ECECEC"/>
              </a:buClr>
              <a:buSzPct val="100000"/>
              <a:buFont typeface="Roboto"/>
              <a:buChar char="●"/>
            </a:pPr>
            <a:r>
              <a:rPr lang="en-GB" sz="1200">
                <a:solidFill>
                  <a:srgbClr val="ECECEC"/>
                </a:solidFill>
                <a:highlight>
                  <a:srgbClr val="212121"/>
                </a:highlight>
                <a:latin typeface="Roboto"/>
                <a:ea typeface="Roboto"/>
                <a:cs typeface="Roboto"/>
                <a:sym typeface="Roboto"/>
              </a:rPr>
              <a:t>Informed the selection of appropriate modeling techniques.</a:t>
            </a:r>
            <a:endParaRPr sz="1200">
              <a:solidFill>
                <a:srgbClr val="ECECEC"/>
              </a:solidFill>
              <a:highlight>
                <a:srgbClr val="212121"/>
              </a:highlight>
              <a:latin typeface="Roboto"/>
              <a:ea typeface="Roboto"/>
              <a:cs typeface="Roboto"/>
              <a:sym typeface="Roboto"/>
            </a:endParaRPr>
          </a:p>
          <a:p>
            <a:pPr marL="914400" lvl="1" indent="-299085" algn="l" rtl="0">
              <a:spcBef>
                <a:spcPts val="0"/>
              </a:spcBef>
              <a:spcAft>
                <a:spcPts val="0"/>
              </a:spcAft>
              <a:buClr>
                <a:srgbClr val="ECECEC"/>
              </a:buClr>
              <a:buSzPct val="100000"/>
              <a:buFont typeface="Roboto"/>
              <a:buChar char="●"/>
            </a:pPr>
            <a:r>
              <a:rPr lang="en-GB" sz="1200">
                <a:solidFill>
                  <a:srgbClr val="ECECEC"/>
                </a:solidFill>
                <a:highlight>
                  <a:srgbClr val="212121"/>
                </a:highlight>
                <a:latin typeface="Roboto"/>
                <a:ea typeface="Roboto"/>
                <a:cs typeface="Roboto"/>
                <a:sym typeface="Roboto"/>
              </a:rPr>
              <a:t>Provided a solid foundation for robust predictive analysis.</a:t>
            </a:r>
            <a:endParaRPr sz="1200">
              <a:solidFill>
                <a:srgbClr val="ECECEC"/>
              </a:solidFill>
              <a:highlight>
                <a:srgbClr val="212121"/>
              </a:highlight>
              <a:latin typeface="Roboto"/>
              <a:ea typeface="Roboto"/>
              <a:cs typeface="Roboto"/>
              <a:sym typeface="Roboto"/>
            </a:endParaRPr>
          </a:p>
          <a:p>
            <a:pPr marL="0" lvl="0" indent="0" algn="l" rtl="0">
              <a:spcBef>
                <a:spcPts val="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7"/>
          <p:cNvSpPr txBox="1">
            <a:spLocks noGrp="1"/>
          </p:cNvSpPr>
          <p:nvPr>
            <p:ph type="title"/>
          </p:nvPr>
        </p:nvSpPr>
        <p:spPr>
          <a:xfrm>
            <a:off x="1297500" y="214150"/>
            <a:ext cx="7038900" cy="535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Visual Elements</a:t>
            </a:r>
            <a:endParaRPr/>
          </a:p>
        </p:txBody>
      </p:sp>
      <p:sp>
        <p:nvSpPr>
          <p:cNvPr id="159" name="Google Shape;159;p17"/>
          <p:cNvSpPr txBox="1">
            <a:spLocks noGrp="1"/>
          </p:cNvSpPr>
          <p:nvPr>
            <p:ph type="body" idx="1"/>
          </p:nvPr>
        </p:nvSpPr>
        <p:spPr>
          <a:xfrm>
            <a:off x="1297500" y="749650"/>
            <a:ext cx="7038900" cy="39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Candlestick Chart, Line Plots :</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160" name="Google Shape;160;p17"/>
          <p:cNvPicPr preferRelativeResize="0"/>
          <p:nvPr/>
        </p:nvPicPr>
        <p:blipFill>
          <a:blip r:embed="rId3">
            <a:alphaModFix/>
          </a:blip>
          <a:stretch>
            <a:fillRect/>
          </a:stretch>
        </p:blipFill>
        <p:spPr>
          <a:xfrm>
            <a:off x="1297500" y="1151100"/>
            <a:ext cx="7038899" cy="1332975"/>
          </a:xfrm>
          <a:prstGeom prst="rect">
            <a:avLst/>
          </a:prstGeom>
          <a:noFill/>
          <a:ln>
            <a:noFill/>
          </a:ln>
        </p:spPr>
      </p:pic>
      <p:pic>
        <p:nvPicPr>
          <p:cNvPr id="161" name="Google Shape;161;p17"/>
          <p:cNvPicPr preferRelativeResize="0"/>
          <p:nvPr/>
        </p:nvPicPr>
        <p:blipFill>
          <a:blip r:embed="rId4">
            <a:alphaModFix/>
          </a:blip>
          <a:stretch>
            <a:fillRect/>
          </a:stretch>
        </p:blipFill>
        <p:spPr>
          <a:xfrm>
            <a:off x="1297500" y="2571750"/>
            <a:ext cx="7038899" cy="1207925"/>
          </a:xfrm>
          <a:prstGeom prst="rect">
            <a:avLst/>
          </a:prstGeom>
          <a:noFill/>
          <a:ln>
            <a:noFill/>
          </a:ln>
        </p:spPr>
      </p:pic>
      <p:pic>
        <p:nvPicPr>
          <p:cNvPr id="162" name="Google Shape;162;p17"/>
          <p:cNvPicPr preferRelativeResize="0"/>
          <p:nvPr/>
        </p:nvPicPr>
        <p:blipFill>
          <a:blip r:embed="rId5">
            <a:alphaModFix/>
          </a:blip>
          <a:stretch>
            <a:fillRect/>
          </a:stretch>
        </p:blipFill>
        <p:spPr>
          <a:xfrm>
            <a:off x="1297500" y="3867350"/>
            <a:ext cx="7038902" cy="993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Visual Elements</a:t>
            </a:r>
            <a:endParaRPr/>
          </a:p>
        </p:txBody>
      </p:sp>
      <p:sp>
        <p:nvSpPr>
          <p:cNvPr id="168" name="Google Shape;168;p1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Correlation Matrix:</a:t>
            </a:r>
            <a:endParaRPr/>
          </a:p>
          <a:p>
            <a:pPr marL="0" lvl="0" indent="0" algn="l" rtl="0">
              <a:spcBef>
                <a:spcPts val="1200"/>
              </a:spcBef>
              <a:spcAft>
                <a:spcPts val="1200"/>
              </a:spcAft>
              <a:buNone/>
            </a:pPr>
            <a:endParaRPr/>
          </a:p>
        </p:txBody>
      </p:sp>
      <p:pic>
        <p:nvPicPr>
          <p:cNvPr id="169" name="Google Shape;169;p18"/>
          <p:cNvPicPr preferRelativeResize="0"/>
          <p:nvPr/>
        </p:nvPicPr>
        <p:blipFill>
          <a:blip r:embed="rId3">
            <a:alphaModFix/>
          </a:blip>
          <a:stretch>
            <a:fillRect/>
          </a:stretch>
        </p:blipFill>
        <p:spPr>
          <a:xfrm>
            <a:off x="857250" y="1307850"/>
            <a:ext cx="7429500" cy="3521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Data Analysis</a:t>
            </a:r>
            <a:endParaRPr/>
          </a:p>
        </p:txBody>
      </p:sp>
      <p:sp>
        <p:nvSpPr>
          <p:cNvPr id="175" name="Google Shape;175;p1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AutoNum type="arabicPeriod"/>
            </a:pPr>
            <a:r>
              <a:rPr lang="en-GB"/>
              <a:t>Decision Tree Regression Model</a:t>
            </a:r>
            <a:endParaRPr/>
          </a:p>
          <a:p>
            <a:pPr marL="457200" lvl="0" indent="0" algn="l" rtl="0">
              <a:spcBef>
                <a:spcPts val="1200"/>
              </a:spcBef>
              <a:spcAft>
                <a:spcPts val="1200"/>
              </a:spcAft>
              <a:buNone/>
            </a:pPr>
            <a:endParaRPr/>
          </a:p>
        </p:txBody>
      </p:sp>
      <p:pic>
        <p:nvPicPr>
          <p:cNvPr id="176" name="Google Shape;176;p19"/>
          <p:cNvPicPr preferRelativeResize="0"/>
          <p:nvPr/>
        </p:nvPicPr>
        <p:blipFill>
          <a:blip r:embed="rId3">
            <a:alphaModFix/>
          </a:blip>
          <a:stretch>
            <a:fillRect/>
          </a:stretch>
        </p:blipFill>
        <p:spPr>
          <a:xfrm>
            <a:off x="1341525" y="2232300"/>
            <a:ext cx="6460950" cy="2489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Data Analysis</a:t>
            </a:r>
            <a:endParaRPr/>
          </a:p>
        </p:txBody>
      </p:sp>
      <p:sp>
        <p:nvSpPr>
          <p:cNvPr id="182" name="Google Shape;182;p20"/>
          <p:cNvSpPr txBox="1">
            <a:spLocks noGrp="1"/>
          </p:cNvSpPr>
          <p:nvPr>
            <p:ph type="body" idx="1"/>
          </p:nvPr>
        </p:nvSpPr>
        <p:spPr>
          <a:xfrm>
            <a:off x="1297500" y="1145675"/>
            <a:ext cx="7038900" cy="3333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2. MLP (Multilayer Perceptron) Layer</a:t>
            </a:r>
            <a:endParaRPr/>
          </a:p>
          <a:p>
            <a:pPr marL="0" lvl="0" indent="0" algn="l" rtl="0">
              <a:spcBef>
                <a:spcPts val="1200"/>
              </a:spcBef>
              <a:spcAft>
                <a:spcPts val="0"/>
              </a:spcAft>
              <a:buNone/>
            </a:pPr>
            <a:endParaRPr/>
          </a:p>
          <a:p>
            <a:pPr marL="0" lvl="0" indent="0" algn="l" rtl="0">
              <a:spcBef>
                <a:spcPts val="1200"/>
              </a:spcBef>
              <a:spcAft>
                <a:spcPts val="1200"/>
              </a:spcAft>
              <a:buNone/>
            </a:pPr>
            <a:r>
              <a:rPr lang="en-GB"/>
              <a:t> </a:t>
            </a:r>
            <a:endParaRPr/>
          </a:p>
        </p:txBody>
      </p:sp>
      <p:pic>
        <p:nvPicPr>
          <p:cNvPr id="183" name="Google Shape;183;p20"/>
          <p:cNvPicPr preferRelativeResize="0"/>
          <p:nvPr/>
        </p:nvPicPr>
        <p:blipFill>
          <a:blip r:embed="rId3">
            <a:alphaModFix/>
          </a:blip>
          <a:stretch>
            <a:fillRect/>
          </a:stretch>
        </p:blipFill>
        <p:spPr>
          <a:xfrm>
            <a:off x="1196475" y="1820225"/>
            <a:ext cx="7055850" cy="26584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Data Analysis</a:t>
            </a:r>
            <a:endParaRPr/>
          </a:p>
        </p:txBody>
      </p:sp>
      <p:sp>
        <p:nvSpPr>
          <p:cNvPr id="189" name="Google Shape;189;p21"/>
          <p:cNvSpPr txBox="1">
            <a:spLocks noGrp="1"/>
          </p:cNvSpPr>
          <p:nvPr>
            <p:ph type="body" idx="1"/>
          </p:nvPr>
        </p:nvSpPr>
        <p:spPr>
          <a:xfrm>
            <a:off x="1297500" y="1134975"/>
            <a:ext cx="7038900" cy="3343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3. Prophet Model</a:t>
            </a:r>
            <a:endParaRPr/>
          </a:p>
          <a:p>
            <a:pPr marL="0" lvl="0" indent="0" algn="l" rtl="0">
              <a:spcBef>
                <a:spcPts val="1200"/>
              </a:spcBef>
              <a:spcAft>
                <a:spcPts val="0"/>
              </a:spcAft>
              <a:buNone/>
            </a:pPr>
            <a:endParaRPr/>
          </a:p>
          <a:p>
            <a:pPr marL="0" lvl="0" indent="0" algn="l" rtl="0">
              <a:spcBef>
                <a:spcPts val="0"/>
              </a:spcBef>
              <a:spcAft>
                <a:spcPts val="0"/>
              </a:spcAft>
              <a:buNone/>
            </a:pPr>
            <a:endParaRPr/>
          </a:p>
          <a:p>
            <a:pPr marL="0" lvl="0" indent="0" algn="l" rtl="0">
              <a:spcBef>
                <a:spcPts val="0"/>
              </a:spcBef>
              <a:spcAft>
                <a:spcPts val="1200"/>
              </a:spcAft>
              <a:buNone/>
            </a:pPr>
            <a:endParaRPr/>
          </a:p>
        </p:txBody>
      </p:sp>
      <p:pic>
        <p:nvPicPr>
          <p:cNvPr id="190" name="Google Shape;190;p21"/>
          <p:cNvPicPr preferRelativeResize="0"/>
          <p:nvPr/>
        </p:nvPicPr>
        <p:blipFill>
          <a:blip r:embed="rId3">
            <a:alphaModFix/>
          </a:blip>
          <a:stretch>
            <a:fillRect/>
          </a:stretch>
        </p:blipFill>
        <p:spPr>
          <a:xfrm>
            <a:off x="1297500" y="1863075"/>
            <a:ext cx="7038901" cy="2846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Results</a:t>
            </a:r>
            <a:endParaRPr/>
          </a:p>
        </p:txBody>
      </p:sp>
      <p:sp>
        <p:nvSpPr>
          <p:cNvPr id="196" name="Google Shape;196;p22"/>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97" name="Google Shape;197;p22"/>
          <p:cNvPicPr preferRelativeResize="0"/>
          <p:nvPr/>
        </p:nvPicPr>
        <p:blipFill>
          <a:blip r:embed="rId3">
            <a:alphaModFix/>
          </a:blip>
          <a:stretch>
            <a:fillRect/>
          </a:stretch>
        </p:blipFill>
        <p:spPr>
          <a:xfrm>
            <a:off x="1297500" y="1231325"/>
            <a:ext cx="7193350" cy="3522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3"/>
          <p:cNvSpPr txBox="1">
            <a:spLocks noGrp="1"/>
          </p:cNvSpPr>
          <p:nvPr>
            <p:ph type="title"/>
          </p:nvPr>
        </p:nvSpPr>
        <p:spPr>
          <a:xfrm>
            <a:off x="1297500" y="393750"/>
            <a:ext cx="7038900" cy="634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Comparisons</a:t>
            </a:r>
            <a:endParaRPr/>
          </a:p>
        </p:txBody>
      </p:sp>
      <p:sp>
        <p:nvSpPr>
          <p:cNvPr id="203" name="Google Shape;203;p23"/>
          <p:cNvSpPr txBox="1">
            <a:spLocks noGrp="1"/>
          </p:cNvSpPr>
          <p:nvPr>
            <p:ph type="body" idx="1"/>
          </p:nvPr>
        </p:nvSpPr>
        <p:spPr>
          <a:xfrm>
            <a:off x="1297500" y="1124250"/>
            <a:ext cx="7038900" cy="3354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04" name="Google Shape;204;p23"/>
          <p:cNvPicPr preferRelativeResize="0"/>
          <p:nvPr/>
        </p:nvPicPr>
        <p:blipFill>
          <a:blip r:embed="rId3">
            <a:alphaModFix/>
          </a:blip>
          <a:stretch>
            <a:fillRect/>
          </a:stretch>
        </p:blipFill>
        <p:spPr>
          <a:xfrm>
            <a:off x="1297500" y="1103100"/>
            <a:ext cx="6994025" cy="3354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Comparisons</a:t>
            </a:r>
            <a:endParaRPr/>
          </a:p>
        </p:txBody>
      </p:sp>
      <p:sp>
        <p:nvSpPr>
          <p:cNvPr id="210" name="Google Shape;210;p2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11" name="Google Shape;211;p24"/>
          <p:cNvPicPr preferRelativeResize="0"/>
          <p:nvPr/>
        </p:nvPicPr>
        <p:blipFill>
          <a:blip r:embed="rId3">
            <a:alphaModFix/>
          </a:blip>
          <a:stretch>
            <a:fillRect/>
          </a:stretch>
        </p:blipFill>
        <p:spPr>
          <a:xfrm>
            <a:off x="1297500" y="1307850"/>
            <a:ext cx="6984500" cy="3149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Comparisons </a:t>
            </a:r>
            <a:endParaRPr/>
          </a:p>
        </p:txBody>
      </p:sp>
      <p:sp>
        <p:nvSpPr>
          <p:cNvPr id="217" name="Google Shape;217;p2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18" name="Google Shape;218;p25"/>
          <p:cNvPicPr preferRelativeResize="0"/>
          <p:nvPr/>
        </p:nvPicPr>
        <p:blipFill>
          <a:blip r:embed="rId3">
            <a:alphaModFix/>
          </a:blip>
          <a:stretch>
            <a:fillRect/>
          </a:stretch>
        </p:blipFill>
        <p:spPr>
          <a:xfrm>
            <a:off x="1257375" y="1242050"/>
            <a:ext cx="7038899" cy="3215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Conclusion</a:t>
            </a:r>
            <a:endParaRPr/>
          </a:p>
        </p:txBody>
      </p:sp>
      <p:sp>
        <p:nvSpPr>
          <p:cNvPr id="224" name="Google Shape;224;p26"/>
          <p:cNvSpPr txBox="1">
            <a:spLocks noGrp="1"/>
          </p:cNvSpPr>
          <p:nvPr>
            <p:ph type="body" idx="1"/>
          </p:nvPr>
        </p:nvSpPr>
        <p:spPr>
          <a:xfrm>
            <a:off x="1297500" y="1307850"/>
            <a:ext cx="7038900" cy="341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 The analysis underscores the Prophet model as the standout performer, achieving the highest accuracy with the lowest error rates among the examined models. Its ability to provide confidence intervals adds significant value by quantifying forecast uncertainty, a critical feature for stakeholders in volatile financial markets. </a:t>
            </a:r>
            <a:endParaRPr/>
          </a:p>
          <a:p>
            <a:pPr marL="0" lvl="0" indent="0" algn="l" rtl="0">
              <a:spcBef>
                <a:spcPts val="1200"/>
              </a:spcBef>
              <a:spcAft>
                <a:spcPts val="0"/>
              </a:spcAft>
              <a:buNone/>
            </a:pPr>
            <a:r>
              <a:rPr lang="en-GB"/>
              <a:t>The use of advanced forecasting models like Prophet is crucial for effectively managing economic risks associated with fluctuating currency rates. Continuous model evaluation and data analysis are essential to adapt to changing market dynamics, ensuring that forecasts remain relevant and accurate. This approach empowers stakeholders to make informed, strategic decisions, enhancing economic and financial planning.</a:t>
            </a:r>
            <a:endParaRPr/>
          </a:p>
          <a:p>
            <a:pPr marL="0" lvl="0" indent="0" algn="l" rtl="0">
              <a:spcBef>
                <a:spcPts val="1200"/>
              </a:spcBef>
              <a:spcAft>
                <a:spcPts val="12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30" name="Google Shape;230;p2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31" name="Google Shape;231;p27"/>
          <p:cNvPicPr preferRelativeResize="0"/>
          <p:nvPr/>
        </p:nvPicPr>
        <p:blipFill>
          <a:blip r:embed="rId3">
            <a:alphaModFix/>
          </a:blip>
          <a:stretch>
            <a:fillRect/>
          </a:stretch>
        </p:blipFill>
        <p:spPr>
          <a:xfrm>
            <a:off x="0" y="1"/>
            <a:ext cx="9144000" cy="5021036"/>
          </a:xfrm>
          <a:prstGeom prst="rect">
            <a:avLst/>
          </a:prstGeom>
          <a:noFill/>
          <a:ln>
            <a:noFill/>
          </a:ln>
        </p:spPr>
      </p:pic>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545</Words>
  <Application>Microsoft Office PowerPoint</Application>
  <PresentationFormat>On-screen Show (16:9)</PresentationFormat>
  <Paragraphs>74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Roboto</vt:lpstr>
      <vt:lpstr>Montserrat</vt:lpstr>
      <vt:lpstr>Lato</vt:lpstr>
      <vt:lpstr>Arial</vt:lpstr>
      <vt:lpstr>Focus</vt:lpstr>
      <vt:lpstr>Global Currency Forecaster</vt:lpstr>
      <vt:lpstr>Introduction</vt:lpstr>
      <vt:lpstr>Data Collection</vt:lpstr>
      <vt:lpstr>Data Exploration</vt:lpstr>
      <vt:lpstr>Visual Elements</vt:lpstr>
      <vt:lpstr>Visual Elements</vt:lpstr>
      <vt:lpstr>Data Analysis</vt:lpstr>
      <vt:lpstr>Data Analysis</vt:lpstr>
      <vt:lpstr>Data Analysis</vt:lpstr>
      <vt:lpstr>Results</vt:lpstr>
      <vt:lpstr>Comparisons</vt:lpstr>
      <vt:lpstr>Comparisons</vt:lpstr>
      <vt:lpstr>Comparisons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Currency Forecaster</dc:title>
  <cp:lastModifiedBy>JHANSI LAKSHMI LAKKI REDDY</cp:lastModifiedBy>
  <cp:revision>1</cp:revision>
  <dcterms:modified xsi:type="dcterms:W3CDTF">2024-04-30T02:27:29Z</dcterms:modified>
</cp:coreProperties>
</file>